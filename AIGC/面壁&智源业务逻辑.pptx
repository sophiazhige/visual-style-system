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66" r:id="rId3"/>
    <p:sldId id="265" r:id="rId4"/>
    <p:sldId id="268" r:id="rId5"/>
    <p:sldId id="269" r:id="rId7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905AC517-B79F-BE41-862F-34ACA3A2A564}">
          <p14:sldIdLst>
            <p14:sldId id="266"/>
            <p14:sldId id="265"/>
            <p14:sldId id="268"/>
            <p14:sldId id="269"/>
          </p14:sldIdLst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URUI5 [刘瑞]" initials="L[" lastIdx="1" clrIdx="0"/>
  <p:cmAuthor id="2" name="Shi Jane" initials="SJ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7D7D"/>
    <a:srgbClr val="FDB5B5"/>
    <a:srgbClr val="D133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98" autoAdjust="0"/>
    <p:restoredTop sz="84615"/>
  </p:normalViewPr>
  <p:slideViewPr>
    <p:cSldViewPr snapToGrid="0">
      <p:cViewPr varScale="1">
        <p:scale>
          <a:sx n="98" d="100"/>
          <a:sy n="98" d="100"/>
        </p:scale>
        <p:origin x="9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1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GB" altLang="zh-CN" dirty="0"/>
              <a:t>ks3://resources/backup/laion400m-full-release/</a:t>
            </a:r>
            <a:r>
              <a:rPr kumimoji="1" lang="en-GB" altLang="zh-CN" dirty="0" err="1"/>
              <a:t>img_data</a:t>
            </a:r>
            <a:r>
              <a:rPr kumimoji="1" lang="en-GB" altLang="zh-CN" dirty="0"/>
              <a:t>/laion400m-dat-release/</a:t>
            </a:r>
            <a:endParaRPr kumimoji="1" lang="en-GB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30</a:t>
            </a:r>
            <a:r>
              <a:rPr kumimoji="1" lang="zh-CN" altLang="en-US" dirty="0"/>
              <a:t>台服务器，</a:t>
            </a:r>
            <a:r>
              <a:rPr kumimoji="1" lang="en-US" altLang="zh-CN" dirty="0"/>
              <a:t>2K</a:t>
            </a:r>
            <a:r>
              <a:rPr kumimoji="1" lang="zh-CN" altLang="en-US" dirty="0"/>
              <a:t> </a:t>
            </a:r>
            <a:r>
              <a:rPr kumimoji="1" lang="en-US" altLang="zh-CN" dirty="0"/>
              <a:t>VCOREs</a:t>
            </a:r>
            <a:r>
              <a:rPr kumimoji="1" lang="zh-CN" altLang="en-US" dirty="0"/>
              <a:t> 每个文件</a:t>
            </a:r>
            <a:r>
              <a:rPr kumimoji="1" lang="en-US" altLang="zh-CN" dirty="0"/>
              <a:t>300M</a:t>
            </a:r>
            <a:r>
              <a:rPr kumimoji="1" lang="zh-CN" altLang="en-US" dirty="0"/>
              <a:t>， 清洗出</a:t>
            </a:r>
            <a:r>
              <a:rPr kumimoji="1" lang="en-US" altLang="zh-CN" dirty="0"/>
              <a:t>50M</a:t>
            </a:r>
            <a:r>
              <a:rPr kumimoji="1" lang="zh-CN" altLang="en-US" dirty="0"/>
              <a:t>文件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400" b="9912"/>
          <a:stretch>
            <a:fillRect/>
          </a:stretch>
        </p:blipFill>
        <p:spPr>
          <a:xfrm>
            <a:off x="4566257" y="1892004"/>
            <a:ext cx="7625743" cy="496599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0825" y="330006"/>
            <a:ext cx="925007" cy="294152"/>
          </a:xfrm>
          <a:prstGeom prst="rect">
            <a:avLst/>
          </a:prstGeom>
        </p:spPr>
      </p:pic>
      <p:sp>
        <p:nvSpPr>
          <p:cNvPr id="9" name="文本框 8"/>
          <p:cNvSpPr txBox="1"/>
          <p:nvPr userDrawn="1"/>
        </p:nvSpPr>
        <p:spPr>
          <a:xfrm>
            <a:off x="409279" y="5771536"/>
            <a:ext cx="3500284" cy="471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>
              <a:lnSpc>
                <a:spcPct val="130000"/>
              </a:lnSpc>
            </a:pPr>
            <a:r>
              <a:rPr lang="zh-CN" altLang="en-US" sz="1000" b="1" strike="noStrike" kern="1200" dirty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北京金山云网络技术有限公司 </a:t>
            </a:r>
            <a:endParaRPr lang="en-US" altLang="zh-CN" sz="1000" b="1" strike="noStrike" kern="1200" dirty="0">
              <a:solidFill>
                <a:schemeClr val="bg1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  <a:p>
            <a:pPr marL="0" algn="l" defTabSz="914400" rtl="0" eaLnBrk="1" latinLnBrk="0" hangingPunct="1">
              <a:lnSpc>
                <a:spcPct val="130000"/>
              </a:lnSpc>
            </a:pPr>
            <a:r>
              <a:rPr lang="en-US" altLang="zh-CN" sz="1000" strike="noStrike" kern="1200" dirty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Copyright © 2012 - 2020 Kingsoft Cloud.</a:t>
            </a:r>
            <a:endParaRPr lang="zh-CN" altLang="en-US" sz="1000" strike="noStrike" kern="1200" dirty="0">
              <a:solidFill>
                <a:schemeClr val="bg1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409279" y="342879"/>
            <a:ext cx="1462250" cy="268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>
              <a:lnSpc>
                <a:spcPct val="120000"/>
              </a:lnSpc>
            </a:pPr>
            <a:r>
              <a:rPr lang="en-US" altLang="zh-CN" sz="1050" b="1" strike="noStrike" kern="1200" dirty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WWW.KSYUN.COM</a:t>
            </a:r>
            <a:endParaRPr lang="zh-CN" altLang="en-US" sz="1050" strike="noStrike" kern="1200" dirty="0">
              <a:solidFill>
                <a:schemeClr val="bg1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4000">
        <p:split orient="vert"/>
      </p:transition>
    </mc:Choice>
    <mc:Fallback>
      <p:transition spd="slow" advTm="4000">
        <p:split orient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扁平职业人物头像_昕小昱-站酷ZCOOL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5160" y="245684"/>
            <a:ext cx="1070840" cy="1070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5260687" y="1478739"/>
            <a:ext cx="107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周界</a:t>
            </a:r>
            <a:endParaRPr kumimoji="1" lang="zh-CN" altLang="en-US" dirty="0"/>
          </a:p>
        </p:txBody>
      </p:sp>
      <p:pic>
        <p:nvPicPr>
          <p:cNvPr id="3" name="Picture 8" descr="扁平职业人物头像_昕小昱-站酷ZCOOL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5160" y="2226191"/>
            <a:ext cx="1070840" cy="1070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8" descr="扁平职业人物头像_昕小昱-站酷ZCOOL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7372" y="4427947"/>
            <a:ext cx="1070840" cy="1070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 descr="扁平职业人物头像_昕小昱-站酷ZCOOL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7593" y="4418132"/>
            <a:ext cx="1070840" cy="1070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5144944" y="3514407"/>
            <a:ext cx="107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翟忠武</a:t>
            </a:r>
            <a:endParaRPr kumimoji="1"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6904390" y="5664373"/>
            <a:ext cx="15418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战科宇</a:t>
            </a:r>
            <a:r>
              <a:rPr kumimoji="1" lang="en-US" altLang="zh-CN" dirty="0"/>
              <a:t>/MapReduce</a:t>
            </a:r>
            <a:endParaRPr kumimoji="1"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5712899" y="5674188"/>
            <a:ext cx="1070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蔡杰</a:t>
            </a:r>
            <a:r>
              <a:rPr kumimoji="1" lang="en-US" altLang="zh-CN" dirty="0"/>
              <a:t>/Spark</a:t>
            </a:r>
            <a:endParaRPr kumimoji="1" lang="zh-CN" altLang="en-US" dirty="0"/>
          </a:p>
        </p:txBody>
      </p:sp>
      <p:pic>
        <p:nvPicPr>
          <p:cNvPr id="9" name="Picture 8" descr="扁平职业人物头像_昕小昱-站酷ZCOOL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6718" y="4418132"/>
            <a:ext cx="1070840" cy="1070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/>
          <p:cNvSpPr txBox="1"/>
          <p:nvPr/>
        </p:nvSpPr>
        <p:spPr>
          <a:xfrm>
            <a:off x="8442244" y="5664373"/>
            <a:ext cx="13894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徐建铭</a:t>
            </a:r>
            <a:r>
              <a:rPr kumimoji="1" lang="en-US" altLang="zh-CN" dirty="0"/>
              <a:t>/MapReduce</a:t>
            </a:r>
            <a:endParaRPr kumimoji="1" lang="zh-CN" altLang="en-US" dirty="0"/>
          </a:p>
        </p:txBody>
      </p:sp>
      <p:pic>
        <p:nvPicPr>
          <p:cNvPr id="11" name="Picture 8" descr="扁平职业人物头像_昕小昱-站酷ZCOOL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4393" y="4418132"/>
            <a:ext cx="1070840" cy="1070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文本框 11"/>
          <p:cNvSpPr txBox="1"/>
          <p:nvPr/>
        </p:nvSpPr>
        <p:spPr>
          <a:xfrm>
            <a:off x="4289919" y="5664373"/>
            <a:ext cx="13894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郭俊劭</a:t>
            </a:r>
            <a:endParaRPr kumimoji="1" lang="en-US" altLang="zh-CN" dirty="0"/>
          </a:p>
          <a:p>
            <a:r>
              <a:rPr kumimoji="1" lang="en-US" altLang="zh-CN" dirty="0"/>
              <a:t>/</a:t>
            </a:r>
            <a:r>
              <a:rPr kumimoji="1" lang="zh-CN" altLang="en-US" dirty="0"/>
              <a:t>图片爬虫</a:t>
            </a:r>
            <a:endParaRPr kumimoji="1" lang="zh-CN" altLang="en-US" dirty="0"/>
          </a:p>
        </p:txBody>
      </p:sp>
      <p:pic>
        <p:nvPicPr>
          <p:cNvPr id="13" name="Picture 8" descr="扁平职业人物头像_昕小昱-站酷ZCOOL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9521" y="4418132"/>
            <a:ext cx="1070840" cy="1070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文本框 13"/>
          <p:cNvSpPr txBox="1"/>
          <p:nvPr/>
        </p:nvSpPr>
        <p:spPr>
          <a:xfrm>
            <a:off x="2765047" y="5664373"/>
            <a:ext cx="13894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刘佳文</a:t>
            </a:r>
            <a:endParaRPr kumimoji="1" lang="en-US" altLang="zh-CN" dirty="0"/>
          </a:p>
          <a:p>
            <a:r>
              <a:rPr kumimoji="1" lang="en-US" altLang="zh-CN" dirty="0"/>
              <a:t>/</a:t>
            </a:r>
            <a:r>
              <a:rPr kumimoji="1" lang="zh-CN" altLang="en-US" dirty="0"/>
              <a:t>集群管理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Simple Rules for AWS S3 Bucket Naming and Restrictions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876" y="287977"/>
            <a:ext cx="1689719" cy="70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直角上箭头 1"/>
          <p:cNvSpPr/>
          <p:nvPr/>
        </p:nvSpPr>
        <p:spPr>
          <a:xfrm rot="5400000">
            <a:off x="585433" y="1494194"/>
            <a:ext cx="2565246" cy="2056540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498" y="2319020"/>
            <a:ext cx="1301119" cy="1665432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474152" y="4172650"/>
            <a:ext cx="1634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KS3</a:t>
            </a:r>
            <a:r>
              <a:rPr kumimoji="1" lang="zh-CN" altLang="en-US" dirty="0"/>
              <a:t> </a:t>
            </a:r>
            <a:r>
              <a:rPr kumimoji="1" lang="en-US" altLang="zh-CN" dirty="0"/>
              <a:t>Spark-test2</a:t>
            </a:r>
            <a:endParaRPr kumimoji="1"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1481735" y="1055172"/>
            <a:ext cx="15953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Common</a:t>
            </a:r>
            <a:r>
              <a:rPr kumimoji="1" lang="zh-CN" altLang="en-US" dirty="0"/>
              <a:t> </a:t>
            </a:r>
            <a:r>
              <a:rPr kumimoji="1" lang="en-US" altLang="zh-CN" dirty="0"/>
              <a:t>crawl</a:t>
            </a:r>
            <a:endParaRPr kumimoji="1" lang="en-US" altLang="zh-CN" dirty="0"/>
          </a:p>
          <a:p>
            <a:r>
              <a:rPr kumimoji="1" lang="en-US" altLang="zh-CN" dirty="0"/>
              <a:t>WARC.gz</a:t>
            </a:r>
            <a:endParaRPr kumimoji="1"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1377963" y="1802917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下载总量</a:t>
            </a:r>
            <a:r>
              <a:rPr kumimoji="1" lang="en-US" altLang="zh-CN" dirty="0"/>
              <a:t>1.7P</a:t>
            </a:r>
            <a:endParaRPr kumimoji="1" lang="en-US" altLang="zh-CN" dirty="0"/>
          </a:p>
        </p:txBody>
      </p:sp>
      <p:sp>
        <p:nvSpPr>
          <p:cNvPr id="19" name="圆角矩形 18"/>
          <p:cNvSpPr/>
          <p:nvPr/>
        </p:nvSpPr>
        <p:spPr>
          <a:xfrm>
            <a:off x="5108143" y="601791"/>
            <a:ext cx="1316182" cy="7522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 dirty="0"/>
              <a:t> </a:t>
            </a:r>
            <a:r>
              <a:rPr kumimoji="1" lang="zh-CN" altLang="en-US" sz="1200" dirty="0"/>
              <a:t>解压缩</a:t>
            </a:r>
            <a:r>
              <a:rPr kumimoji="1" lang="en-US" altLang="zh-CN" sz="1200" dirty="0"/>
              <a:t>/</a:t>
            </a:r>
            <a:r>
              <a:rPr kumimoji="1" lang="zh-CN" altLang="en-US" sz="1200" dirty="0"/>
              <a:t>转换</a:t>
            </a:r>
            <a:r>
              <a:rPr kumimoji="1" lang="en-US" altLang="zh-CN" sz="1200" dirty="0" err="1"/>
              <a:t>Json</a:t>
            </a:r>
            <a:r>
              <a:rPr kumimoji="1" lang="en-US" altLang="zh-CN" sz="1200" dirty="0"/>
              <a:t>/</a:t>
            </a:r>
            <a:r>
              <a:rPr kumimoji="1" lang="zh-CN" altLang="en-US" sz="1200" dirty="0"/>
              <a:t>抽取</a:t>
            </a:r>
            <a:r>
              <a:rPr kumimoji="1" lang="en-US" altLang="zh-CN" sz="1200" dirty="0"/>
              <a:t>txt/html</a:t>
            </a:r>
            <a:endParaRPr kumimoji="1" lang="zh-CN" altLang="en-US" sz="1100" dirty="0"/>
          </a:p>
        </p:txBody>
      </p:sp>
      <p:sp>
        <p:nvSpPr>
          <p:cNvPr id="20" name="圆角矩形 19"/>
          <p:cNvSpPr/>
          <p:nvPr/>
        </p:nvSpPr>
        <p:spPr>
          <a:xfrm>
            <a:off x="6645997" y="601791"/>
            <a:ext cx="1316182" cy="7522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语言识别</a:t>
            </a:r>
            <a:endParaRPr kumimoji="1" lang="zh-CN" altLang="en-US" dirty="0"/>
          </a:p>
        </p:txBody>
      </p:sp>
      <p:sp>
        <p:nvSpPr>
          <p:cNvPr id="21" name="圆角矩形 20"/>
          <p:cNvSpPr/>
          <p:nvPr/>
        </p:nvSpPr>
        <p:spPr>
          <a:xfrm>
            <a:off x="8183851" y="601791"/>
            <a:ext cx="1316182" cy="7522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Perplexity</a:t>
            </a:r>
            <a:endParaRPr kumimoji="1" lang="en-US" altLang="zh-CN" dirty="0"/>
          </a:p>
          <a:p>
            <a:pPr algn="ctr"/>
            <a:r>
              <a:rPr kumimoji="1" lang="zh-CN" altLang="en-US" dirty="0"/>
              <a:t>打分</a:t>
            </a:r>
            <a:endParaRPr kumimoji="1" lang="zh-CN" altLang="en-US" dirty="0"/>
          </a:p>
        </p:txBody>
      </p:sp>
      <p:sp>
        <p:nvSpPr>
          <p:cNvPr id="22" name="右箭头 21"/>
          <p:cNvSpPr/>
          <p:nvPr/>
        </p:nvSpPr>
        <p:spPr>
          <a:xfrm rot="19366321">
            <a:off x="3844985" y="1498293"/>
            <a:ext cx="1130208" cy="6092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8757" y="2119747"/>
            <a:ext cx="1301119" cy="1265290"/>
          </a:xfrm>
          <a:prstGeom prst="rect">
            <a:avLst/>
          </a:prstGeom>
        </p:spPr>
      </p:pic>
      <p:sp>
        <p:nvSpPr>
          <p:cNvPr id="26" name="右箭头 25"/>
          <p:cNvSpPr/>
          <p:nvPr/>
        </p:nvSpPr>
        <p:spPr>
          <a:xfrm rot="1880489">
            <a:off x="5760646" y="1627819"/>
            <a:ext cx="1130208" cy="6092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/>
          </a:p>
        </p:txBody>
      </p:sp>
      <p:sp>
        <p:nvSpPr>
          <p:cNvPr id="27" name="文本框 26"/>
          <p:cNvSpPr txBox="1"/>
          <p:nvPr/>
        </p:nvSpPr>
        <p:spPr>
          <a:xfrm>
            <a:off x="5321919" y="2754310"/>
            <a:ext cx="1634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KS3</a:t>
            </a:r>
            <a:r>
              <a:rPr kumimoji="1" lang="zh-CN" altLang="en-US" dirty="0"/>
              <a:t> </a:t>
            </a:r>
            <a:r>
              <a:rPr kumimoji="1" lang="en-US" altLang="zh-CN" dirty="0"/>
              <a:t>Spark-test2</a:t>
            </a:r>
            <a:endParaRPr kumimoji="1" lang="zh-CN" altLang="en-US" dirty="0"/>
          </a:p>
        </p:txBody>
      </p:sp>
      <p:sp>
        <p:nvSpPr>
          <p:cNvPr id="28" name="文本框 27"/>
          <p:cNvSpPr txBox="1"/>
          <p:nvPr/>
        </p:nvSpPr>
        <p:spPr>
          <a:xfrm>
            <a:off x="6605408" y="1516837"/>
            <a:ext cx="1749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清洗数据量</a:t>
            </a:r>
            <a:r>
              <a:rPr kumimoji="1" lang="en-US" altLang="zh-CN" dirty="0"/>
              <a:t>8.5P</a:t>
            </a:r>
            <a:endParaRPr kumimoji="1" lang="zh-CN" altLang="en-US" dirty="0"/>
          </a:p>
        </p:txBody>
      </p:sp>
      <p:sp>
        <p:nvSpPr>
          <p:cNvPr id="29" name="右箭头 28"/>
          <p:cNvSpPr/>
          <p:nvPr/>
        </p:nvSpPr>
        <p:spPr>
          <a:xfrm rot="1203184">
            <a:off x="4178383" y="4007647"/>
            <a:ext cx="1130208" cy="6092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6645997" y="131192"/>
            <a:ext cx="1168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Spark</a:t>
            </a:r>
            <a:r>
              <a:rPr kumimoji="1" lang="zh-CN" altLang="en-US" dirty="0"/>
              <a:t>任务</a:t>
            </a:r>
            <a:endParaRPr kumimoji="1" lang="zh-CN" altLang="en-US" dirty="0"/>
          </a:p>
        </p:txBody>
      </p:sp>
      <p:sp>
        <p:nvSpPr>
          <p:cNvPr id="31" name="圆角矩形 30"/>
          <p:cNvSpPr/>
          <p:nvPr/>
        </p:nvSpPr>
        <p:spPr>
          <a:xfrm>
            <a:off x="5414934" y="3999131"/>
            <a:ext cx="4108764" cy="7522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　</a:t>
            </a:r>
            <a:r>
              <a:rPr kumimoji="1" lang="en-US" altLang="zh-CN" dirty="0"/>
              <a:t>txt/html</a:t>
            </a:r>
            <a:r>
              <a:rPr kumimoji="1" lang="zh-CN" altLang="en-US" dirty="0"/>
              <a:t>数据抽取，语言识别，打分</a:t>
            </a:r>
            <a:endParaRPr kumimoji="1" lang="zh-CN" altLang="en-US" dirty="0"/>
          </a:p>
        </p:txBody>
      </p:sp>
      <p:sp>
        <p:nvSpPr>
          <p:cNvPr id="32" name="文本框 31"/>
          <p:cNvSpPr txBox="1"/>
          <p:nvPr/>
        </p:nvSpPr>
        <p:spPr>
          <a:xfrm>
            <a:off x="6520578" y="3594241"/>
            <a:ext cx="1769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MapReduce</a:t>
            </a:r>
            <a:r>
              <a:rPr kumimoji="1" lang="zh-CN" altLang="en-US" dirty="0"/>
              <a:t>任务</a:t>
            </a:r>
            <a:endParaRPr kumimoji="1" lang="zh-CN" altLang="en-US" dirty="0"/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8758" y="5414748"/>
            <a:ext cx="1301119" cy="1202048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5108143" y="5965440"/>
            <a:ext cx="1804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KS3</a:t>
            </a:r>
            <a:r>
              <a:rPr kumimoji="1" lang="zh-CN" altLang="en-US" dirty="0"/>
              <a:t> </a:t>
            </a:r>
            <a:r>
              <a:rPr kumimoji="1" lang="en-US" altLang="zh-CN" dirty="0"/>
              <a:t>web-pipeline</a:t>
            </a:r>
            <a:endParaRPr kumimoji="1" lang="zh-CN" altLang="en-US" dirty="0"/>
          </a:p>
        </p:txBody>
      </p:sp>
      <p:sp>
        <p:nvSpPr>
          <p:cNvPr id="37" name="右箭头 36"/>
          <p:cNvSpPr/>
          <p:nvPr/>
        </p:nvSpPr>
        <p:spPr>
          <a:xfrm rot="19236276">
            <a:off x="7949607" y="1554837"/>
            <a:ext cx="1130208" cy="6092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8" name="右箭头 37"/>
          <p:cNvSpPr/>
          <p:nvPr/>
        </p:nvSpPr>
        <p:spPr>
          <a:xfrm rot="1880489">
            <a:off x="5886308" y="4970326"/>
            <a:ext cx="1130208" cy="6092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" name="右箭头 38"/>
          <p:cNvSpPr/>
          <p:nvPr/>
        </p:nvSpPr>
        <p:spPr>
          <a:xfrm rot="18962197">
            <a:off x="7931743" y="4888350"/>
            <a:ext cx="1130208" cy="6092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6665487" y="4889332"/>
            <a:ext cx="1749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清洗数据量</a:t>
            </a:r>
            <a:r>
              <a:rPr kumimoji="1" lang="en-US" altLang="zh-CN" dirty="0"/>
              <a:t>2.2P</a:t>
            </a:r>
            <a:endParaRPr kumimoji="1"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8758361" y="69637"/>
            <a:ext cx="29274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00" dirty="0"/>
              <a:t>pyspark_cc_txt_xml_for_json_and_extract.py</a:t>
            </a:r>
            <a:endParaRPr kumimoji="1" lang="en-US" altLang="zh-CN" sz="1100" dirty="0"/>
          </a:p>
          <a:p>
            <a:r>
              <a:rPr kumimoji="1" lang="en-US" altLang="zh-CN" sz="1100" dirty="0"/>
              <a:t>pyspark_cc_net.py</a:t>
            </a:r>
            <a:endParaRPr kumimoji="1" lang="zh-CN" altLang="en-US" sz="1100" dirty="0"/>
          </a:p>
        </p:txBody>
      </p:sp>
      <p:sp>
        <p:nvSpPr>
          <p:cNvPr id="8" name="文本框 7"/>
          <p:cNvSpPr txBox="1"/>
          <p:nvPr/>
        </p:nvSpPr>
        <p:spPr>
          <a:xfrm>
            <a:off x="9115069" y="3543477"/>
            <a:ext cx="180440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100" dirty="0"/>
              <a:t>warc_parallel_transform</a:t>
            </a:r>
            <a:r>
              <a:rPr kumimoji="1" lang="en-US" altLang="zh-CN" sz="1100" dirty="0"/>
              <a:t>.cc</a:t>
            </a:r>
            <a:endParaRPr kumimoji="1" lang="zh-CN" alt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圆角矩形 18"/>
          <p:cNvSpPr/>
          <p:nvPr/>
        </p:nvSpPr>
        <p:spPr>
          <a:xfrm>
            <a:off x="3851770" y="1177837"/>
            <a:ext cx="1316182" cy="7522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图像处理</a:t>
            </a:r>
            <a:endParaRPr kumimoji="1" lang="en-US" altLang="zh-CN" sz="1600" dirty="0"/>
          </a:p>
          <a:p>
            <a:pPr algn="ctr"/>
            <a:r>
              <a:rPr kumimoji="1" lang="zh-CN" altLang="en-US" sz="1600" dirty="0"/>
              <a:t>和转换</a:t>
            </a:r>
            <a:endParaRPr kumimoji="1" lang="zh-CN" altLang="en-US" sz="1600" dirty="0"/>
          </a:p>
        </p:txBody>
      </p:sp>
      <p:sp>
        <p:nvSpPr>
          <p:cNvPr id="20" name="圆角矩形 19"/>
          <p:cNvSpPr/>
          <p:nvPr/>
        </p:nvSpPr>
        <p:spPr>
          <a:xfrm>
            <a:off x="5563726" y="1224510"/>
            <a:ext cx="1316182" cy="7522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向量化</a:t>
            </a:r>
            <a:r>
              <a:rPr kumimoji="1" lang="en-US" altLang="zh-CN" dirty="0"/>
              <a:t>/tokenize</a:t>
            </a:r>
            <a:endParaRPr kumimoji="1" lang="zh-CN" altLang="en-US" dirty="0"/>
          </a:p>
        </p:txBody>
      </p:sp>
      <p:sp>
        <p:nvSpPr>
          <p:cNvPr id="21" name="圆角矩形 20"/>
          <p:cNvSpPr/>
          <p:nvPr/>
        </p:nvSpPr>
        <p:spPr>
          <a:xfrm>
            <a:off x="7365051" y="1224510"/>
            <a:ext cx="1316182" cy="7522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向量文件聚合</a:t>
            </a:r>
            <a:endParaRPr kumimoji="1" lang="zh-CN" altLang="en-US" dirty="0"/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7163" y="2438172"/>
            <a:ext cx="1301119" cy="1265290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1140703" y="3707957"/>
            <a:ext cx="1484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KS3</a:t>
            </a:r>
            <a:r>
              <a:rPr kumimoji="1" lang="zh-CN" altLang="en-US" dirty="0"/>
              <a:t> </a:t>
            </a:r>
            <a:r>
              <a:rPr kumimoji="1" lang="en-US" altLang="zh-CN" dirty="0"/>
              <a:t>resources</a:t>
            </a:r>
            <a:endParaRPr kumimoji="1" lang="zh-CN" altLang="en-US" dirty="0"/>
          </a:p>
        </p:txBody>
      </p:sp>
      <p:sp>
        <p:nvSpPr>
          <p:cNvPr id="37" name="右箭头 36"/>
          <p:cNvSpPr/>
          <p:nvPr/>
        </p:nvSpPr>
        <p:spPr>
          <a:xfrm rot="19236276">
            <a:off x="2546700" y="1778081"/>
            <a:ext cx="1130208" cy="6092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拉取</a:t>
            </a:r>
            <a:endParaRPr kumimoji="1"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879030" y="4087382"/>
            <a:ext cx="31511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altLang="zh-CN" dirty="0"/>
              <a:t>laion-400M</a:t>
            </a:r>
            <a:r>
              <a:rPr kumimoji="1" lang="zh-CN" altLang="en-GB" dirty="0"/>
              <a:t>数据</a:t>
            </a:r>
            <a:r>
              <a:rPr kumimoji="1" lang="zh-CN" altLang="en-US" dirty="0"/>
              <a:t>集合</a:t>
            </a:r>
            <a:endParaRPr kumimoji="1" lang="en-US" altLang="zh-CN" dirty="0"/>
          </a:p>
          <a:p>
            <a:r>
              <a:rPr kumimoji="1" lang="en-US" altLang="zh-CN" dirty="0"/>
              <a:t>8</a:t>
            </a:r>
            <a:r>
              <a:rPr kumimoji="1" lang="zh-CN" altLang="en-US" dirty="0"/>
              <a:t>万个</a:t>
            </a:r>
            <a:r>
              <a:rPr kumimoji="1" lang="en-US" altLang="zh-CN" dirty="0"/>
              <a:t>tar</a:t>
            </a:r>
            <a:r>
              <a:rPr kumimoji="1" lang="zh-CN" altLang="en-US" dirty="0"/>
              <a:t>包，每个</a:t>
            </a:r>
            <a:r>
              <a:rPr kumimoji="1" lang="en-US" altLang="zh-CN" dirty="0"/>
              <a:t>300MB</a:t>
            </a:r>
            <a:r>
              <a:rPr kumimoji="1" lang="zh-CN" altLang="en-US" dirty="0"/>
              <a:t>、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879030" y="4881204"/>
            <a:ext cx="36006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GB" altLang="zh-CN" dirty="0"/>
              <a:t>mmc4</a:t>
            </a:r>
            <a:r>
              <a:rPr kumimoji="1" lang="zh-CN" altLang="en-US" dirty="0"/>
              <a:t> </a:t>
            </a:r>
            <a:r>
              <a:rPr kumimoji="1" lang="zh-CN" altLang="en-GB" dirty="0"/>
              <a:t>数据</a:t>
            </a:r>
            <a:r>
              <a:rPr kumimoji="1" lang="zh-CN" altLang="en-US" dirty="0"/>
              <a:t>集合</a:t>
            </a:r>
            <a:endParaRPr kumimoji="1" lang="en-US" altLang="zh-CN" dirty="0"/>
          </a:p>
          <a:p>
            <a:r>
              <a:rPr kumimoji="1" lang="en-US" altLang="zh-CN" dirty="0"/>
              <a:t>6</a:t>
            </a:r>
            <a:r>
              <a:rPr kumimoji="1" lang="zh-CN" altLang="en-US" dirty="0"/>
              <a:t>亿个图片文件，每个文件几百</a:t>
            </a:r>
            <a:r>
              <a:rPr kumimoji="1" lang="en-US" altLang="zh-CN" dirty="0"/>
              <a:t>K B</a:t>
            </a:r>
            <a:endParaRPr kumimoji="1"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5637362" y="635971"/>
            <a:ext cx="1168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Spark</a:t>
            </a:r>
            <a:r>
              <a:rPr kumimoji="1" lang="zh-CN" altLang="en-US" dirty="0"/>
              <a:t>任务</a:t>
            </a:r>
            <a:endParaRPr kumimoji="1"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2820" y="2634929"/>
            <a:ext cx="1301119" cy="1265290"/>
          </a:xfrm>
          <a:prstGeom prst="rect">
            <a:avLst/>
          </a:prstGeom>
        </p:spPr>
      </p:pic>
      <p:sp>
        <p:nvSpPr>
          <p:cNvPr id="12" name="右箭头 11"/>
          <p:cNvSpPr/>
          <p:nvPr/>
        </p:nvSpPr>
        <p:spPr>
          <a:xfrm rot="1745244">
            <a:off x="8988653" y="2018338"/>
            <a:ext cx="1130208" cy="6092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写入</a:t>
            </a:r>
            <a:endParaRPr kumimoji="1"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9979032" y="4171004"/>
            <a:ext cx="1548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KS3</a:t>
            </a:r>
            <a:r>
              <a:rPr kumimoji="1" lang="zh-CN" altLang="en-US" dirty="0"/>
              <a:t>  </a:t>
            </a:r>
            <a:r>
              <a:rPr kumimoji="1" lang="en-GB" altLang="zh-CN" dirty="0" err="1"/>
              <a:t>baai-cofe</a:t>
            </a:r>
            <a:r>
              <a:rPr kumimoji="1" lang="en-GB" altLang="zh-CN" dirty="0"/>
              <a:t> </a:t>
            </a:r>
            <a:endParaRPr kumimoji="1" lang="en-US" altLang="zh-CN" dirty="0"/>
          </a:p>
        </p:txBody>
      </p:sp>
      <p:sp>
        <p:nvSpPr>
          <p:cNvPr id="15" name="文本框 14"/>
          <p:cNvSpPr txBox="1"/>
          <p:nvPr/>
        </p:nvSpPr>
        <p:spPr>
          <a:xfrm>
            <a:off x="879030" y="5685118"/>
            <a:ext cx="35318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10M</a:t>
            </a:r>
            <a:r>
              <a:rPr kumimoji="1" lang="zh-CN" altLang="en-US" dirty="0"/>
              <a:t>个视频</a:t>
            </a:r>
            <a:r>
              <a:rPr kumimoji="1" lang="zh-CN" altLang="en-GB" dirty="0"/>
              <a:t>数据</a:t>
            </a:r>
            <a:r>
              <a:rPr kumimoji="1" lang="zh-CN" altLang="en-US" dirty="0"/>
              <a:t>集合</a:t>
            </a:r>
            <a:endParaRPr kumimoji="1" lang="en-US" altLang="zh-CN" dirty="0"/>
          </a:p>
          <a:p>
            <a:r>
              <a:rPr kumimoji="1" lang="zh-CN" altLang="en-US" dirty="0"/>
              <a:t>每个文件</a:t>
            </a:r>
            <a:r>
              <a:rPr kumimoji="1" lang="en-US" altLang="zh-CN" dirty="0"/>
              <a:t>2-3M</a:t>
            </a:r>
            <a:r>
              <a:rPr kumimoji="1" lang="zh-CN" altLang="en-US" dirty="0"/>
              <a:t>（</a:t>
            </a:r>
            <a:r>
              <a:rPr kumimoji="1" lang="en-US" altLang="zh-CN" dirty="0"/>
              <a:t>30frame/</a:t>
            </a:r>
            <a:r>
              <a:rPr kumimoji="1" lang="zh-CN" altLang="en-US" dirty="0"/>
              <a:t>秒*</a:t>
            </a:r>
            <a:r>
              <a:rPr kumimoji="1" lang="en-US" altLang="zh-CN" dirty="0"/>
              <a:t>20</a:t>
            </a:r>
            <a:r>
              <a:rPr kumimoji="1" lang="zh-CN" altLang="en-US" dirty="0"/>
              <a:t>）</a:t>
            </a:r>
            <a:endParaRPr kumimoji="1" lang="zh-CN" altLang="en-US" dirty="0"/>
          </a:p>
        </p:txBody>
      </p:sp>
      <p:sp>
        <p:nvSpPr>
          <p:cNvPr id="16" name="可选流程 15"/>
          <p:cNvSpPr/>
          <p:nvPr/>
        </p:nvSpPr>
        <p:spPr>
          <a:xfrm>
            <a:off x="4646409" y="2197856"/>
            <a:ext cx="3057166" cy="632645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内存承载中间数据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圆角矩形 18"/>
          <p:cNvSpPr/>
          <p:nvPr/>
        </p:nvSpPr>
        <p:spPr>
          <a:xfrm>
            <a:off x="2985861" y="967469"/>
            <a:ext cx="1168910" cy="7255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/>
              <a:t>场景分割</a:t>
            </a:r>
            <a:endParaRPr lang="zh-CN" altLang="en-US" sz="1600" dirty="0"/>
          </a:p>
        </p:txBody>
      </p:sp>
      <p:sp>
        <p:nvSpPr>
          <p:cNvPr id="21" name="圆角矩形 20"/>
          <p:cNvSpPr/>
          <p:nvPr/>
        </p:nvSpPr>
        <p:spPr>
          <a:xfrm>
            <a:off x="5509832" y="1581591"/>
            <a:ext cx="4067821" cy="10188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视频数据过滤，提取片段，重新存储 </a:t>
            </a:r>
            <a:endParaRPr lang="zh-CN" altLang="en-US" dirty="0"/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466" y="2843121"/>
            <a:ext cx="1301119" cy="1265290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476006" y="4112906"/>
            <a:ext cx="2353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KS3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baai</a:t>
            </a:r>
            <a:r>
              <a:rPr kumimoji="1" lang="en-US" altLang="zh-CN" dirty="0"/>
              <a:t>-vision-</a:t>
            </a:r>
            <a:r>
              <a:rPr kumimoji="1" lang="en-US" altLang="zh-CN" dirty="0" err="1"/>
              <a:t>wudao</a:t>
            </a:r>
            <a:endParaRPr kumimoji="1" lang="zh-CN" altLang="en-US" dirty="0"/>
          </a:p>
        </p:txBody>
      </p:sp>
      <p:sp>
        <p:nvSpPr>
          <p:cNvPr id="37" name="右箭头 36"/>
          <p:cNvSpPr/>
          <p:nvPr/>
        </p:nvSpPr>
        <p:spPr>
          <a:xfrm rot="19236276">
            <a:off x="1332748" y="1812906"/>
            <a:ext cx="1554591" cy="6092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拉取</a:t>
            </a:r>
            <a:endParaRPr kumimoji="1"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476006" y="4677937"/>
            <a:ext cx="22336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6P</a:t>
            </a:r>
            <a:r>
              <a:rPr kumimoji="1" lang="zh-CN" altLang="en-US" dirty="0"/>
              <a:t> 视频数据集合</a:t>
            </a:r>
            <a:r>
              <a:rPr kumimoji="1" lang="en-US" altLang="zh-CN" dirty="0"/>
              <a:t>, </a:t>
            </a:r>
            <a:endParaRPr kumimoji="1" lang="en-US" altLang="zh-CN" dirty="0"/>
          </a:p>
          <a:p>
            <a:r>
              <a:rPr kumimoji="1" lang="zh-CN" altLang="en-US" dirty="0"/>
              <a:t>每个文件大小</a:t>
            </a:r>
            <a:r>
              <a:rPr kumimoji="1" lang="en-US" altLang="zh-CN" dirty="0"/>
              <a:t>30MB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5348627" y="339162"/>
            <a:ext cx="17171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Spark</a:t>
            </a:r>
            <a:r>
              <a:rPr kumimoji="1" lang="zh-CN" altLang="en-US" sz="2800" dirty="0"/>
              <a:t>任务</a:t>
            </a:r>
            <a:endParaRPr kumimoji="1" lang="zh-CN" altLang="en-US" sz="28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5634" y="2736614"/>
            <a:ext cx="1301119" cy="1265290"/>
          </a:xfrm>
          <a:prstGeom prst="rect">
            <a:avLst/>
          </a:prstGeom>
        </p:spPr>
      </p:pic>
      <p:sp>
        <p:nvSpPr>
          <p:cNvPr id="12" name="右箭头 11"/>
          <p:cNvSpPr/>
          <p:nvPr/>
        </p:nvSpPr>
        <p:spPr>
          <a:xfrm>
            <a:off x="5555516" y="3685581"/>
            <a:ext cx="4292373" cy="6092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几十</a:t>
            </a:r>
            <a:r>
              <a:rPr kumimoji="1" lang="en-US" altLang="zh-CN" dirty="0"/>
              <a:t>G</a:t>
            </a:r>
            <a:r>
              <a:rPr kumimoji="1" lang="zh-CN" altLang="en-US" dirty="0"/>
              <a:t> </a:t>
            </a:r>
            <a:r>
              <a:rPr kumimoji="1" lang="en-US" altLang="zh-CN" dirty="0"/>
              <a:t>meta</a:t>
            </a:r>
            <a:r>
              <a:rPr kumimoji="1" lang="zh-CN" altLang="en-US" dirty="0"/>
              <a:t>文件持久化</a:t>
            </a:r>
            <a:endParaRPr kumimoji="1"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9823268" y="3961870"/>
            <a:ext cx="2298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KS3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baai</a:t>
            </a:r>
            <a:r>
              <a:rPr kumimoji="1" lang="en-US" altLang="zh-CN" dirty="0"/>
              <a:t>-vision-</a:t>
            </a:r>
            <a:r>
              <a:rPr kumimoji="1" lang="en-US" altLang="zh-CN" dirty="0" err="1"/>
              <a:t>wudao</a:t>
            </a:r>
            <a:endParaRPr kumimoji="1" lang="en-US" altLang="zh-CN" dirty="0"/>
          </a:p>
        </p:txBody>
      </p:sp>
      <p:sp>
        <p:nvSpPr>
          <p:cNvPr id="16" name="可选流程 15"/>
          <p:cNvSpPr/>
          <p:nvPr/>
        </p:nvSpPr>
        <p:spPr>
          <a:xfrm>
            <a:off x="2995547" y="3685581"/>
            <a:ext cx="2353080" cy="632645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内存承载中间数据</a:t>
            </a:r>
            <a:endParaRPr kumimoji="1" lang="zh-CN" altLang="en-US" dirty="0"/>
          </a:p>
        </p:txBody>
      </p:sp>
      <p:sp>
        <p:nvSpPr>
          <p:cNvPr id="6" name="圆角矩形 5"/>
          <p:cNvSpPr/>
          <p:nvPr/>
        </p:nvSpPr>
        <p:spPr>
          <a:xfrm>
            <a:off x="3384789" y="1514931"/>
            <a:ext cx="1168910" cy="7255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/>
              <a:t>文本过滤</a:t>
            </a:r>
            <a:endParaRPr lang="zh-CN" altLang="en-US" sz="1600" dirty="0"/>
          </a:p>
        </p:txBody>
      </p:sp>
      <p:sp>
        <p:nvSpPr>
          <p:cNvPr id="7" name="圆角矩形 6"/>
          <p:cNvSpPr/>
          <p:nvPr/>
        </p:nvSpPr>
        <p:spPr>
          <a:xfrm>
            <a:off x="3783717" y="2117529"/>
            <a:ext cx="1168910" cy="7255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/>
              <a:t>提取光流</a:t>
            </a:r>
            <a:endParaRPr lang="zh-CN" altLang="en-US" sz="1600" dirty="0"/>
          </a:p>
        </p:txBody>
      </p:sp>
      <p:sp>
        <p:nvSpPr>
          <p:cNvPr id="14" name="圆角矩形 13"/>
          <p:cNvSpPr/>
          <p:nvPr/>
        </p:nvSpPr>
        <p:spPr>
          <a:xfrm>
            <a:off x="4182645" y="2691278"/>
            <a:ext cx="1168910" cy="7255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/>
              <a:t>聚合生成视频文件的</a:t>
            </a:r>
            <a:r>
              <a:rPr lang="en-US" altLang="zh-CN" sz="1600" dirty="0"/>
              <a:t>CV</a:t>
            </a:r>
            <a:r>
              <a:rPr lang="zh-CN" altLang="en-US" sz="1600" dirty="0"/>
              <a:t> </a:t>
            </a:r>
            <a:r>
              <a:rPr lang="en-US" altLang="zh-CN" sz="1600" dirty="0"/>
              <a:t>meta</a:t>
            </a:r>
            <a:endParaRPr lang="zh-CN" altLang="en-US" sz="1600" dirty="0"/>
          </a:p>
        </p:txBody>
      </p:sp>
      <p:sp>
        <p:nvSpPr>
          <p:cNvPr id="17" name="右箭头 16"/>
          <p:cNvSpPr/>
          <p:nvPr/>
        </p:nvSpPr>
        <p:spPr>
          <a:xfrm rot="1818994">
            <a:off x="9616897" y="1973052"/>
            <a:ext cx="1674918" cy="6092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1-2P</a:t>
            </a:r>
            <a:r>
              <a:rPr kumimoji="1" lang="zh-CN" altLang="en-US" dirty="0"/>
              <a:t>视频数据</a:t>
            </a:r>
            <a:endParaRPr kumimoji="1"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898f55cd-e4b4-4652-81a0-35698acfdbe2"/>
  <p:tag name="COMMONDATA" val="eyJoZGlkIjoiYTQ0ODZiNzg0MTI1MzNkMzFhM2Y0N2E0ZDAyYzUwODk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614</Words>
  <Application>WPS 演示</Application>
  <PresentationFormat>宽屏</PresentationFormat>
  <Paragraphs>106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Arial</vt:lpstr>
      <vt:lpstr>宋体</vt:lpstr>
      <vt:lpstr>Wingdings</vt:lpstr>
      <vt:lpstr>Calibri</vt:lpstr>
      <vt:lpstr>微软雅黑</vt:lpstr>
      <vt:lpstr>Arial Unicode MS</vt:lpstr>
      <vt:lpstr>Office 主题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CORA</dc:creator>
  <cp:lastModifiedBy>王之格</cp:lastModifiedBy>
  <cp:revision>79</cp:revision>
  <dcterms:created xsi:type="dcterms:W3CDTF">2026-03-05T08:49:09Z</dcterms:created>
  <dcterms:modified xsi:type="dcterms:W3CDTF">2026-03-05T08:49:09Z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8094A825C0BA4E64B9A066885063C790</vt:lpwstr>
  </property>
  <property fmtid="{D5CDD505-2E9C-101B-9397-08002B2CF9AE}" pid="3" name="KSOProductBuildVer">
    <vt:lpwstr>2052-12.1.24031.24031</vt:lpwstr>
  </property>
</Properties>
</file>